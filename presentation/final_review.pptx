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inath gatta" userId="0a2b883e00b4df75" providerId="LiveId" clId="{EAB7CE8D-CBA4-4C9A-B081-B8DB888DF240}"/>
    <pc:docChg chg="undo custSel addSld modSld sldOrd">
      <pc:chgData name="gopinath gatta" userId="0a2b883e00b4df75" providerId="LiveId" clId="{EAB7CE8D-CBA4-4C9A-B081-B8DB888DF240}" dt="2026-10-08T17:21:21.158" v="15" actId="478"/>
      <pc:docMkLst>
        <pc:docMk/>
      </pc:docMkLst>
      <pc:sldChg chg="modSp mod">
        <pc:chgData name="gopinath gatta" userId="0a2b883e00b4df75" providerId="LiveId" clId="{EAB7CE8D-CBA4-4C9A-B081-B8DB888DF240}" dt="2026-10-08T16:51:38.208" v="0" actId="1076"/>
        <pc:sldMkLst>
          <pc:docMk/>
          <pc:sldMk cId="0" sldId="257"/>
        </pc:sldMkLst>
        <pc:spChg chg="mod">
          <ac:chgData name="gopinath gatta" userId="0a2b883e00b4df75" providerId="LiveId" clId="{EAB7CE8D-CBA4-4C9A-B081-B8DB888DF240}" dt="2026-10-08T16:51:38.208" v="0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gopinath gatta" userId="0a2b883e00b4df75" providerId="LiveId" clId="{EAB7CE8D-CBA4-4C9A-B081-B8DB888DF240}" dt="2026-10-08T16:58:31.341" v="5" actId="1076"/>
        <pc:sldMkLst>
          <pc:docMk/>
          <pc:sldMk cId="0" sldId="258"/>
        </pc:sldMkLst>
        <pc:spChg chg="mod">
          <ac:chgData name="gopinath gatta" userId="0a2b883e00b4df75" providerId="LiveId" clId="{EAB7CE8D-CBA4-4C9A-B081-B8DB888DF240}" dt="2026-10-08T16:58:02.669" v="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gopinath gatta" userId="0a2b883e00b4df75" providerId="LiveId" clId="{EAB7CE8D-CBA4-4C9A-B081-B8DB888DF240}" dt="2026-10-08T16:53:37.340" v="1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opinath gatta" userId="0a2b883e00b4df75" providerId="LiveId" clId="{EAB7CE8D-CBA4-4C9A-B081-B8DB888DF240}" dt="2026-10-08T16:58:31.341" v="5" actId="1076"/>
          <ac:spMkLst>
            <pc:docMk/>
            <pc:sldMk cId="0" sldId="258"/>
            <ac:spMk id="13" creationId="{00000000-0000-0000-0000-000000000000}"/>
          </ac:spMkLst>
        </pc:spChg>
        <pc:graphicFrameChg chg="modGraphic">
          <ac:chgData name="gopinath gatta" userId="0a2b883e00b4df75" providerId="LiveId" clId="{EAB7CE8D-CBA4-4C9A-B081-B8DB888DF240}" dt="2026-10-08T16:55:25.796" v="3" actId="2162"/>
          <ac:graphicFrameMkLst>
            <pc:docMk/>
            <pc:sldMk cId="0" sldId="258"/>
            <ac:graphicFrameMk id="6" creationId="{00000000-0000-0000-0000-000000000000}"/>
          </ac:graphicFrameMkLst>
        </pc:graphicFrameChg>
      </pc:sldChg>
      <pc:sldChg chg="addSp delSp modSp new mod ord">
        <pc:chgData name="gopinath gatta" userId="0a2b883e00b4df75" providerId="LiveId" clId="{EAB7CE8D-CBA4-4C9A-B081-B8DB888DF240}" dt="2026-10-08T17:21:21.158" v="15" actId="478"/>
        <pc:sldMkLst>
          <pc:docMk/>
          <pc:sldMk cId="766680118" sldId="270"/>
        </pc:sldMkLst>
        <pc:spChg chg="add mod">
          <ac:chgData name="gopinath gatta" userId="0a2b883e00b4df75" providerId="LiveId" clId="{EAB7CE8D-CBA4-4C9A-B081-B8DB888DF240}" dt="2026-10-08T17:21:06.426" v="12" actId="1076"/>
          <ac:spMkLst>
            <pc:docMk/>
            <pc:sldMk cId="766680118" sldId="270"/>
            <ac:spMk id="3" creationId="{650A73B7-2C7D-EDF1-CC76-D03C0537DE1A}"/>
          </ac:spMkLst>
        </pc:spChg>
        <pc:spChg chg="add del">
          <ac:chgData name="gopinath gatta" userId="0a2b883e00b4df75" providerId="LiveId" clId="{EAB7CE8D-CBA4-4C9A-B081-B8DB888DF240}" dt="2026-10-08T17:21:21.158" v="15" actId="478"/>
          <ac:spMkLst>
            <pc:docMk/>
            <pc:sldMk cId="766680118" sldId="270"/>
            <ac:spMk id="5" creationId="{669525CE-A1C8-72F4-F916-0A7B9E28312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>
                <a:latin typeface="Calibri"/>
              </a:defRPr>
            </a:pPr>
            <a:r>
              <a:t>Unmet demand vs extra sections B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still without a seat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25</c:v>
                </c:pt>
                <c:pt idx="4">
                  <c:v>50</c:v>
                </c:pt>
                <c:pt idx="5">
                  <c:v>75</c:v>
                </c:pt>
                <c:pt idx="6">
                  <c:v>100</c:v>
                </c:pt>
                <c:pt idx="7">
                  <c:v>150</c:v>
                </c:pt>
                <c:pt idx="8">
                  <c:v>200</c:v>
                </c:pt>
                <c:pt idx="9">
                  <c:v>300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436</c:v>
                </c:pt>
                <c:pt idx="1">
                  <c:v>285</c:v>
                </c:pt>
                <c:pt idx="2">
                  <c:v>209</c:v>
                </c:pt>
                <c:pt idx="3">
                  <c:v>84</c:v>
                </c:pt>
                <c:pt idx="4">
                  <c:v>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467-4EE4-B418-4188D3BEC3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444444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76767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04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team and the one-line idea: we forecast how many students each course will have next year and decide how many sections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year a university must decide how many class sections to open per course. Demand is not just new students: students who fail come back, and students who could not get a seat come back too. Operations Research turns this into a forecast plus an optimal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statement, then walk through the small example: with fixed seats, the shortage doubles in one year because failed and unserved students come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objectives, each delivered by a part of the project: data, forecast, bottlenecks, two optimisation models and the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Public dataset from the Universitat Politecnica de Valencia, Spain, published on Zenodo in 2025. All five counts we loaded match the published description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keep 17 of the dataset's columns. There is no official codebook, so each meaning was verified: the counts match the publication, and no student who passed a course took it again the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steps from raw files to a section plan. The orange arrow is the feedback loop: students still without a seat return to next year's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System Dynamics models stocks and flows. The backlog stock collects students who failed or got no seat; a share of it returns as demand next year. S = students served, U = students unserved, π = pass rate, ρ = retake rate. Validated on held-out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optimisation models, both chosen by the user in the app. Integer Programming answers how many sections in total; Binary Programming answers where to put a limited number of extra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Sections are whole classes, so the variable must be an integer. The LP relaxation would allow fractional sections and understates the requirement by about 550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candidate extra section is a yes/no decision. The chart shows diminishing returns: the first sections seat many students, later ones very few.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shadow price tells the planner what one more section is worth. AHP lets the planner rank the priority criteria with pairwise comparisons; CR below 0.10 means the judgements are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Results at 50 seats per section for planning year 2023. These are the numbers the app reproduces; changing capacity or budget in the app updates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the app: Tab 4 bottlenecks, Tab 5 both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CE6F2"/>
                </a:solidFill>
                <a:latin typeface="Calibri"/>
              </a:rPr>
              <a:t>OPERATIONS RESEARCH  · 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 dirty="0">
                <a:solidFill>
                  <a:srgbClr val="FFFFFF"/>
                </a:solidFill>
                <a:latin typeface="Cambria"/>
              </a:rPr>
              <a:t>University Curriculum Flow and Capacity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DCE6F2"/>
                </a:solidFill>
                <a:latin typeface="Calibri"/>
              </a:rPr>
              <a:t>Forecasting course demand with System Dynamics and allocating class sections with Integer and Binary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CE6F2"/>
                </a:solidFill>
                <a:latin typeface="Calibri"/>
              </a:rPr>
              <a:t>Dataset: StudentDropoutDataset (Zenodo 10.5281/zenodo.17239943)  ·  Team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0A73B7-2C7D-EDF1-CC76-D03C0537DE1A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8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rPr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26464"/>
            <a:ext cx="5120640" cy="4389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 dirty="0">
                <a:solidFill>
                  <a:srgbClr val="444444"/>
                </a:solidFill>
                <a:latin typeface="Calibri"/>
              </a:rPr>
              <a:t>•  Every year a university decides </a:t>
            </a:r>
            <a:r>
              <a:rPr sz="1800" b="1" i="0" dirty="0">
                <a:solidFill>
                  <a:srgbClr val="1F3864"/>
                </a:solidFill>
                <a:latin typeface="Calibri"/>
              </a:rPr>
              <a:t>how many sections</a:t>
            </a:r>
            <a:r>
              <a:rPr sz="1800" b="0" i="0" dirty="0">
                <a:solidFill>
                  <a:srgbClr val="444444"/>
                </a:solidFill>
                <a:latin typeface="Calibri"/>
              </a:rPr>
              <a:t> (class groups) to open for each course.</a:t>
            </a:r>
          </a:p>
          <a:p>
            <a:pPr algn="l">
              <a:spcAft>
                <a:spcPts val="1400"/>
              </a:spcAft>
            </a:pPr>
            <a:r>
              <a:rPr sz="1800" b="0" i="0" dirty="0">
                <a:solidFill>
                  <a:srgbClr val="444444"/>
                </a:solidFill>
                <a:latin typeface="Calibri"/>
              </a:rPr>
              <a:t>•  Each section has a </a:t>
            </a:r>
            <a:r>
              <a:rPr sz="1800" b="1" i="0" dirty="0">
                <a:solidFill>
                  <a:srgbClr val="1F3864"/>
                </a:solidFill>
                <a:latin typeface="Calibri"/>
              </a:rPr>
              <a:t>limited number of seats</a:t>
            </a:r>
            <a:r>
              <a:rPr sz="18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 i="0" dirty="0">
                <a:solidFill>
                  <a:srgbClr val="444444"/>
                </a:solidFill>
                <a:latin typeface="Calibri"/>
              </a:rPr>
              <a:t>•  Next year's students = </a:t>
            </a:r>
            <a:r>
              <a:rPr sz="1800" b="1" i="0" dirty="0">
                <a:solidFill>
                  <a:srgbClr val="1F3864"/>
                </a:solidFill>
                <a:latin typeface="Calibri"/>
              </a:rPr>
              <a:t>new students + repeaters + students left without a seat</a:t>
            </a:r>
            <a:r>
              <a:rPr sz="18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 i="0" dirty="0">
                <a:solidFill>
                  <a:srgbClr val="444444"/>
                </a:solidFill>
                <a:latin typeface="Calibri"/>
              </a:rPr>
              <a:t>•  Too few sections leave students waiting; too many waste teachers and rooms.</a:t>
            </a:r>
          </a:p>
          <a:p>
            <a:pPr algn="l">
              <a:spcAft>
                <a:spcPts val="1400"/>
              </a:spcAft>
            </a:pPr>
            <a:r>
              <a:rPr sz="1800" b="0" i="0" dirty="0">
                <a:solidFill>
                  <a:srgbClr val="444444"/>
                </a:solidFill>
                <a:latin typeface="Calibri"/>
              </a:rPr>
              <a:t>•  We combine a </a:t>
            </a:r>
            <a:r>
              <a:rPr sz="1800" b="1" i="0" dirty="0">
                <a:solidFill>
                  <a:srgbClr val="1F3864"/>
                </a:solidFill>
                <a:latin typeface="Calibri"/>
              </a:rPr>
              <a:t>forecast</a:t>
            </a:r>
            <a:r>
              <a:rPr sz="1800" b="0" i="0" dirty="0">
                <a:solidFill>
                  <a:srgbClr val="444444"/>
                </a:solidFill>
                <a:latin typeface="Calibri"/>
              </a:rPr>
              <a:t> with an </a:t>
            </a:r>
            <a:r>
              <a:rPr sz="1800" b="1" i="0" dirty="0" err="1">
                <a:solidFill>
                  <a:srgbClr val="1F3864"/>
                </a:solidFill>
                <a:latin typeface="Calibri"/>
              </a:rPr>
              <a:t>optimisation</a:t>
            </a:r>
            <a:r>
              <a:rPr sz="1800" b="1" i="0" dirty="0">
                <a:solidFill>
                  <a:srgbClr val="1F3864"/>
                </a:solidFill>
                <a:latin typeface="Calibri"/>
              </a:rPr>
              <a:t> model</a:t>
            </a:r>
            <a:r>
              <a:rPr sz="1800" b="0" i="0" dirty="0">
                <a:solidFill>
                  <a:srgbClr val="444444"/>
                </a:solidFill>
                <a:latin typeface="Calibri"/>
              </a:rPr>
              <a:t> to plan sections.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2377440" cy="96012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New students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first-time enrolments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0" y="1938528"/>
            <a:ext cx="685800" cy="96012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309360" y="2788920"/>
            <a:ext cx="2377440" cy="96012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Repeaters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failed and re-enrol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686800" y="2898648"/>
            <a:ext cx="685800" cy="36576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9360" y="4114800"/>
            <a:ext cx="2377440" cy="96012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Left without a seat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unserved last year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686800" y="2898648"/>
            <a:ext cx="685800" cy="169164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418320" y="237744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Course demand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next year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0" y="3429000"/>
            <a:ext cx="0" cy="73152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18320" y="420624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Sections × seats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our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32120"/>
            <a:ext cx="5303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67676"/>
                </a:solidFill>
                <a:latin typeface="Calibri"/>
              </a:rPr>
              <a:t>The two return flows make demand grow when capacity is short.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rPr dirty="0"/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123444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156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 dirty="0">
                <a:solidFill>
                  <a:srgbClr val="111111"/>
                </a:solidFill>
                <a:latin typeface="Calibri"/>
              </a:rPr>
              <a:t>How many sections should each of the university's 3,787 active courses open next year so that every student who needs the course gets a seat, using as few sections as possible or a limited budget of extra sections?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1F3864"/>
                </a:solidFill>
                <a:latin typeface="Calibri"/>
              </a:rPr>
              <a:t>Why it is hard: the shortage snowballs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404600"/>
              </p:ext>
            </p:extLst>
          </p:nvPr>
        </p:nvGraphicFramePr>
        <p:xfrm>
          <a:off x="548640" y="3383280"/>
          <a:ext cx="576072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New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Repeat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Left over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Demand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Seats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seat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rPr dirty="0"/>
                        <a:t>130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rPr dirty="0"/>
                        <a:t>100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rPr dirty="0"/>
                        <a:t>60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5760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67676"/>
                </a:solidFill>
                <a:latin typeface="Calibri"/>
              </a:rPr>
              <a:t>Illustration: one course with 2 sections × 50 seats and no planning.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88036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rgbClr val="1F3864"/>
                </a:solidFill>
                <a:latin typeface="Calibri"/>
              </a:rPr>
              <a:t>Questions we answer</a:t>
            </a:r>
          </a:p>
        </p:txBody>
      </p:sp>
      <p:sp>
        <p:nvSpPr>
          <p:cNvPr id="9" name="Oval 8"/>
          <p:cNvSpPr/>
          <p:nvPr/>
        </p:nvSpPr>
        <p:spPr>
          <a:xfrm>
            <a:off x="6739128" y="342900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429000"/>
            <a:ext cx="42062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 dirty="0">
                <a:solidFill>
                  <a:srgbClr val="111111"/>
                </a:solidFill>
                <a:latin typeface="Calibri"/>
              </a:rPr>
              <a:t>Which courses will be over-full next year?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429768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279392"/>
            <a:ext cx="42062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 dirty="0">
                <a:solidFill>
                  <a:srgbClr val="111111"/>
                </a:solidFill>
                <a:latin typeface="Calibri"/>
              </a:rPr>
              <a:t>What is the minimum number of sections that seats everyone?</a:t>
            </a:r>
          </a:p>
        </p:txBody>
      </p:sp>
      <p:sp>
        <p:nvSpPr>
          <p:cNvPr id="13" name="Oval 12"/>
          <p:cNvSpPr/>
          <p:nvPr/>
        </p:nvSpPr>
        <p:spPr>
          <a:xfrm>
            <a:off x="6739128" y="516636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148072"/>
            <a:ext cx="42062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 dirty="0">
                <a:solidFill>
                  <a:srgbClr val="111111"/>
                </a:solidFill>
                <a:latin typeface="Calibri"/>
              </a:rPr>
              <a:t>With only B extra sections, which courses should get them?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rPr dirty="0"/>
              <a:t>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44752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Prepare the data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Clean and link 464,739 student-course records across 2018, 2021 and 2022.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32304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Forecast course demand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Build a System Dynamics model of student flow to project 2023 demand per course.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419856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46704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Find capacity bottlenecks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Flag courses whose forecast demand exceeds their seats.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407408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34256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Optimise section allocation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Integer Programming for the minimum sections; Binary Programming for a limited budget of extra sections.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321808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Support decisions interactively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A UI to load data, generate statistics on demand, choose a model and change capacity, growth and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rPr dirty="0"/>
              <a:t>DATASET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1F3864"/>
                </a:solidFill>
                <a:latin typeface="Cambria"/>
              </a:rPr>
              <a:t>464,739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student-course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2588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39,364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32588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4,989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01168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courses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32588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degree programmes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32588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01168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academic years (2018, 2021, 2022)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4225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493776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 dirty="0">
                <a:solidFill>
                  <a:srgbClr val="1F3864"/>
                </a:solidFill>
                <a:latin typeface="Calibri"/>
              </a:rPr>
              <a:t>Source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111111"/>
                </a:solidFill>
                <a:latin typeface="Calibri"/>
              </a:rPr>
              <a:t>Name: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StudentDropoutDataset</a:t>
            </a:r>
            <a:endParaRPr sz="1600" b="0" i="0" dirty="0">
              <a:solidFill>
                <a:srgbClr val="44444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111111"/>
                </a:solidFill>
                <a:latin typeface="Calibri"/>
              </a:rPr>
              <a:t>Publisher: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Zenodo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DOI 10.5281/zenodo.17239943 (Oct 2025)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111111"/>
                </a:solidFill>
                <a:latin typeface="Calibri"/>
              </a:rPr>
              <a:t>University: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Universitat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Politècnica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de València, Spain</a:t>
            </a:r>
          </a:p>
          <a:p>
            <a:pPr algn="l">
              <a:spcAft>
                <a:spcPts val="800"/>
              </a:spcAft>
            </a:pPr>
            <a:r>
              <a:rPr sz="1600" b="1" i="0" dirty="0" err="1">
                <a:solidFill>
                  <a:srgbClr val="111111"/>
                </a:solidFill>
                <a:latin typeface="Calibri"/>
              </a:rPr>
              <a:t>Licence</a:t>
            </a:r>
            <a:r>
              <a:rPr sz="1600" b="1" i="0" dirty="0">
                <a:solidFill>
                  <a:srgbClr val="111111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CC BY 4.0, IDs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anonymised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(hashed)</a:t>
            </a:r>
          </a:p>
          <a:p>
            <a:pPr algn="l">
              <a:spcAft>
                <a:spcPts val="800"/>
              </a:spcAft>
            </a:pPr>
            <a:r>
              <a:rPr sz="1600" b="1" i="0" dirty="0">
                <a:solidFill>
                  <a:srgbClr val="111111"/>
                </a:solidFill>
                <a:latin typeface="Calibri"/>
              </a:rPr>
              <a:t>Files: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3 yearly CSVs, one row = one student in one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5303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Key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80"/>
            <a:ext cx="530352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Overall pass rate 73% (pass mark 5 on a 0–10 scale)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27% of 2022 students were repeating at least one course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2021 → 2022 is the only consecutive pair, used to estimate the flow rates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Section capacity is not in the data: it is a model parameter (default 50 seats)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VARIABLES USED FROM THE 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column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 (Spanish term)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Used as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 in the model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dni_hash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student ID (DNI)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student_id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Track each student across years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asi_hash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course (asignatura)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course_id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Unit of planning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tit_hash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degree programme (titulación)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programme_id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Group courses; fairness cap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caca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academic year (curso académico)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academic_year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Link 2021 → 2022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nota_asig_hash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course grade, 0–10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grade → pass / fail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Who will need the course again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curso_mas_alto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highest curriculum year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Year 1 … Final year stocks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cred_pend_sup_tit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credits still pending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graduated / withdrawn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Exit flows of the student model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5285232"/>
            <a:ext cx="106070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Derived attributes: </a:t>
            </a:r>
            <a:r>
              <a:rPr sz="1600" b="0" i="0">
                <a:solidFill>
                  <a:srgbClr val="111111"/>
                </a:solidFill>
                <a:latin typeface="Calibri"/>
              </a:rPr>
              <a:t>outcome (pass ≥ 5, fail, not evaluated), repeat enrolment, first-time students F, backlog B, pass rate π and retake rate ρ for every course.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rPr dirty="0"/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1  Data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Load 3 files, validate counts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2697480"/>
            <a:ext cx="237744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32304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2  Clean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Fix IDs, label pass / fail, link years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78224" y="2697480"/>
            <a:ext cx="237744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15968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3  Statistics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Pass, repeat and progression rates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61888" y="2697480"/>
            <a:ext cx="237743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99631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  Forecast (SD)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2023 demand per course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45552" y="2697480"/>
            <a:ext cx="237744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83296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5  Bottlenecks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Demand vs seats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29216" y="2697480"/>
            <a:ext cx="237744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96696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6  Optimise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Integer and Binary Programming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89920" y="3566160"/>
            <a:ext cx="0" cy="594360"/>
          </a:xfrm>
          <a:prstGeom prst="line">
            <a:avLst/>
          </a:prstGeom>
          <a:ln w="28575">
            <a:solidFill>
              <a:srgbClr val="C84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022592" y="4160520"/>
            <a:ext cx="3767328" cy="0"/>
          </a:xfrm>
          <a:prstGeom prst="line">
            <a:avLst/>
          </a:prstGeom>
          <a:ln w="28575">
            <a:solidFill>
              <a:srgbClr val="C84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22592" y="3566160"/>
            <a:ext cx="0" cy="594360"/>
          </a:xfrm>
          <a:prstGeom prst="line">
            <a:avLst/>
          </a:prstGeom>
          <a:ln w="28575">
            <a:solidFill>
              <a:srgbClr val="C84B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977639"/>
            <a:ext cx="63367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C84B1C"/>
                </a:solidFill>
                <a:latin typeface="Calibri"/>
              </a:rPr>
              <a:t>Feedback loop: unserved students return to next year's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CE6F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106070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User inputs: </a:t>
            </a:r>
            <a:r>
              <a:rPr sz="1600" b="0" i="0">
                <a:solidFill>
                  <a:srgbClr val="111111"/>
                </a:solidFill>
                <a:latin typeface="Calibri"/>
              </a:rPr>
              <a:t>section capacity (default 50), demand growth, bottleneck threshold, safety buffer, extra-section budget B, programme cap, priority weights.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Tools: </a:t>
            </a:r>
            <a:r>
              <a:rPr sz="1600" b="0" i="0">
                <a:solidFill>
                  <a:srgbClr val="111111"/>
                </a:solidFill>
                <a:latin typeface="Calibri"/>
              </a:rPr>
              <a:t>Python (pandas, SciPy HiGHS solver), Streamlit user interface, 32 automated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FORECASTING DEMAND WITH SYSTEM DYNAMICS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New students F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× (1 + growth 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Demand D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this 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Seats = cap × x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x from the optimiser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329184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98781"/>
            </a:solidFill>
          </a:ln>
        </p:spPr>
        <p:txBody>
          <a:bodyPr wrap="square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Calibri"/>
              </a:rPr>
              <a:t>Passed</a:t>
            </a:r>
          </a:p>
          <a:p>
            <a:pPr algn="ctr"/>
            <a:r>
              <a:rPr sz="1400" b="0">
                <a:solidFill>
                  <a:srgbClr val="111111"/>
                </a:solidFill>
                <a:latin typeface="Calibri"/>
              </a:rPr>
              <a:t>leave the 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20624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 w="15875">
            <a:solidFill>
              <a:srgbClr val="C84B1C"/>
            </a:solidFill>
          </a:ln>
        </p:spPr>
        <p:txBody>
          <a:bodyPr wrap="square" rtlCol="0" anchor="ctr"/>
          <a:lstStyle/>
          <a:p>
            <a:pPr algn="ctr"/>
            <a:r>
              <a:rPr sz="1700" b="1">
                <a:solidFill>
                  <a:srgbClr val="111111"/>
                </a:solidFill>
                <a:latin typeface="Calibri"/>
              </a:rPr>
              <a:t>Backlog B (stock)</a:t>
            </a:r>
          </a:p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still need the course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965960"/>
            <a:ext cx="640080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1965960"/>
            <a:ext cx="640080" cy="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06640" y="2468880"/>
            <a:ext cx="0" cy="822960"/>
          </a:xfrm>
          <a:prstGeom prst="line">
            <a:avLst/>
          </a:prstGeom>
          <a:ln w="2540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79" y="269748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67676"/>
                </a:solidFill>
                <a:latin typeface="Calibri"/>
              </a:rPr>
              <a:t>π × served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0" y="2468880"/>
            <a:ext cx="0" cy="411480"/>
          </a:xfrm>
          <a:prstGeom prst="line">
            <a:avLst/>
          </a:prstGeom>
          <a:ln w="28575">
            <a:solidFill>
              <a:srgbClr val="C84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943600" y="2880360"/>
            <a:ext cx="640080" cy="0"/>
          </a:xfrm>
          <a:prstGeom prst="line">
            <a:avLst/>
          </a:prstGeom>
          <a:ln w="28575">
            <a:solidFill>
              <a:srgbClr val="C84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880360"/>
            <a:ext cx="0" cy="1828800"/>
          </a:xfrm>
          <a:prstGeom prst="line">
            <a:avLst/>
          </a:prstGeom>
          <a:ln w="28575">
            <a:solidFill>
              <a:srgbClr val="C84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577840" y="4709160"/>
            <a:ext cx="365760" cy="0"/>
          </a:xfrm>
          <a:prstGeom prst="line">
            <a:avLst/>
          </a:prstGeom>
          <a:ln w="28575">
            <a:solidFill>
              <a:srgbClr val="C84B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89320" y="4800600"/>
            <a:ext cx="2651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4B1C"/>
                </a:solidFill>
                <a:latin typeface="Calibri"/>
              </a:rPr>
              <a:t>failed + unserved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480560" y="2468880"/>
            <a:ext cx="0" cy="1737360"/>
          </a:xfrm>
          <a:prstGeom prst="line">
            <a:avLst/>
          </a:prstGeom>
          <a:ln w="28575">
            <a:solidFill>
              <a:srgbClr val="C84B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3108960"/>
            <a:ext cx="1280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4B1C"/>
                </a:solidFill>
                <a:latin typeface="Calibri"/>
              </a:rPr>
              <a:t>ρ × B re-enrol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417320"/>
            <a:ext cx="3017520" cy="3931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Equations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D = F(1+g) + ρ·B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S = min(D, cap·x),  U = D − S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B(next) = (1−π)·S + U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Validation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Student stocks: 4.2% error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Repeat demand: R² = 0.91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Forecast for 2023: 161,620 seats (145,727 new + 15,893 repeat).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OPERATIONS RESEARCH TECHNIQUES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Model 1 · Integer Programming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Minimum Section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31720"/>
            <a:ext cx="5394960" cy="3246120"/>
          </a:xfrm>
          <a:prstGeom prst="roundRect">
            <a:avLst>
              <a:gd name="adj" fmla="val 4225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493776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Decision: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x_c = sections of course c, a whole number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Objective: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minimise the total number of sections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Constraint: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seats ≥ forecast demand for every course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Answers: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the smallest plan that seats every student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Model 2 · Binary Programming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Limited Additional Capacity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31720"/>
            <a:ext cx="5394960" cy="3246120"/>
          </a:xfrm>
          <a:prstGeom prst="roundRect">
            <a:avLst>
              <a:gd name="adj" fmla="val 4225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468880"/>
            <a:ext cx="493776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Decision: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y_ck = 1 if extra section k of course c is opened, else 0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Objective: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maximise the students seated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Constraints: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at most B extra sections; open in order; optional cap per programme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Answers: 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where a limited budget helps most (a 0-1 knapsack)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Supporting analysis: </a:t>
            </a:r>
            <a:r>
              <a:rPr sz="1600" b="0" i="0">
                <a:solidFill>
                  <a:srgbClr val="111111"/>
                </a:solidFill>
                <a:latin typeface="Calibri"/>
              </a:rPr>
              <a:t>LP sensitivity report (shadow prices) and AHP weights with a consistency check. Solver: HiGHS.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MODEL 1: INTEGER PROGRAMMING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6583680" cy="2194560"/>
          </a:xfrm>
          <a:prstGeom prst="roundRect">
            <a:avLst>
              <a:gd name="adj" fmla="val 6250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62179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111111"/>
                </a:solidFill>
                <a:latin typeface="Cambria"/>
              </a:rPr>
              <a:t>Minimise   Σ x_c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111"/>
                </a:solidFill>
                <a:latin typeface="Cambria"/>
              </a:rPr>
              <a:t>subject to   cap · x_c ≥ (1 + β) · D_c    for every course c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111"/>
                </a:solidFill>
                <a:latin typeface="Cambria"/>
              </a:rPr>
              <a:t>x_c ≥ 1 for active courses,   x_c integer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658368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x_c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 sections of course c (decision)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D_c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 forecast demand from the SD model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cap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 seats per section (parameter, default 50)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β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 optional safety buffer, e.g. 0.10 = 10% extra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371600"/>
            <a:ext cx="3931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5,612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57400"/>
            <a:ext cx="3931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minimum sections at 50 seats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788920"/>
            <a:ext cx="3931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+67 / −25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474720"/>
            <a:ext cx="3931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courses that need one more section / can close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206240"/>
            <a:ext cx="3931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5,062.3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892040"/>
            <a:ext cx="3931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LP relaxation (fractional): integrality matters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MODEL 2: BINARY PROGRAMMING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852160" cy="2514600"/>
          </a:xfrm>
          <a:prstGeom prst="roundRect">
            <a:avLst>
              <a:gd name="adj" fmla="val 5454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5486400" cy="233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Cambria"/>
              </a:rPr>
              <a:t>Maximise   Σ w_c · a_ck · y_ck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Σ y_ck ≤ B   (budget)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y_ck ≤ y_c,k−1   (open in order)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Σ_{c∈p} y_ck ≤ M_p   (programme cap)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11111"/>
                </a:solidFill>
                <a:latin typeface="Cambria"/>
              </a:rPr>
              <a:t>y_ck ∈ {0, 1}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585216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a_ck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 students seated by extra section k of course c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w_c</a:t>
            </a:r>
            <a:r>
              <a:rPr sz="1700" b="0" i="0">
                <a:solidFill>
                  <a:srgbClr val="111111"/>
                </a:solidFill>
                <a:latin typeface="Calibri"/>
              </a:rPr>
              <a:t> priority weight: uniform, repeaters, first-year, or AHP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Result (B = 50): </a:t>
            </a:r>
            <a:r>
              <a:rPr sz="1700" b="1" i="0">
                <a:solidFill>
                  <a:srgbClr val="111111"/>
                </a:solidFill>
                <a:latin typeface="Calibri"/>
              </a:rPr>
              <a:t>unmet demand 436 → 9 students (−98%)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37160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66928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67676"/>
                </a:solidFill>
                <a:latin typeface="Calibri"/>
              </a:rPr>
              <a:t>Extra sections B (x-axis) vs students still unseated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SENSITIVITY ANALYSIS AND AHP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4892040"/>
          </a:xfrm>
          <a:prstGeom prst="roundRect">
            <a:avLst>
              <a:gd name="adj" fmla="val 2803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LP sensitivity report (Model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50292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Cambria"/>
              </a:rPr>
              <a:t>0.92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5029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shadow price of the budget: students seated by one more extra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5029200" cy="2651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Section 50 seats 0.94 students; section 51 would seat 0.92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LP objective = IP objective (427.7): the relaxation is already integral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With a cap of 5 per programme, the binding caps have shadow prices 2.55 and 8.25: relaxing them is worth more than adding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40680" cy="4892040"/>
          </a:xfrm>
          <a:prstGeom prst="roundRect">
            <a:avLst>
              <a:gd name="adj" fmla="val 2803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AHP priority weights (Model 2)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03120"/>
          <a:ext cx="4983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Repeat-student share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0.648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First-year course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0.230</a:t>
                      </a:r>
                    </a:p>
                  </a:txBody>
                  <a:tcPr marT="36576" marB="36576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Low pass rate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0.122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023360"/>
            <a:ext cx="502920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Pairwise comparisons on Saaty's 1–9 scale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Weights = principal eigenvector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Consistency ratio CR = 0.003 (≤ 0.10, consistent)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Course weight w_c = 1 + Σ weight ×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600">
                <a:solidFill>
                  <a:srgbClr val="111111"/>
                </a:solidFill>
                <a:latin typeface="Cambria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697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84B1C"/>
                </a:solidFill>
                <a:latin typeface="Cambria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2697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bottleneck courses in 28 programmes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371600"/>
            <a:ext cx="2697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84B1C"/>
                </a:solidFill>
                <a:latin typeface="Cambria"/>
              </a:rPr>
              <a:t>436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57400"/>
            <a:ext cx="2697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students without a seat if nothing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2697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864"/>
                </a:solidFill>
                <a:latin typeface="Cambria"/>
              </a:rPr>
              <a:t>5,612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57400"/>
            <a:ext cx="2697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minimum sections (Integer Programming)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371600"/>
            <a:ext cx="2697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864"/>
                </a:solidFill>
                <a:latin typeface="Cambria"/>
              </a:rPr>
              <a:t>436 →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57400"/>
            <a:ext cx="2697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unseated students with 50 extra sections (Binary)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What the project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48640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A per-course section plan for 2023 (CSV and Excel)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A ranked list of bottleneck courses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An interactive app: load data, statistics on demand, choose a model, change inputs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•  Scenario and sensitivity charts for capacity and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257800" cy="3154680"/>
          </a:xfrm>
          <a:prstGeom prst="roundRect">
            <a:avLst>
              <a:gd name="adj" fmla="val 4347"/>
            </a:avLst>
          </a:pr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84632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Key insights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Shortages come from repeat demand: failed students returning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About 1% more sections (50 of 5,612) removes 98% of the shortage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Returns diminish fast: 67 sections clear everything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Higher pass rates also reduce capacity pressure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DCE6F2"/>
                </a:solidFill>
                <a:latin typeface="Calibri"/>
              </a:rPr>
              <a:t>Questions and live demo of the planning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2014</Words>
  <Application>Microsoft Office PowerPoint</Application>
  <PresentationFormat>Widescreen</PresentationFormat>
  <Paragraphs>264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gopinath gatta</cp:lastModifiedBy>
  <cp:revision>1</cp:revision>
  <dcterms:created xsi:type="dcterms:W3CDTF">2013-01-27T09:14:16Z</dcterms:created>
  <dcterms:modified xsi:type="dcterms:W3CDTF">2026-10-08T17:21:25Z</dcterms:modified>
  <cp:category/>
</cp:coreProperties>
</file>