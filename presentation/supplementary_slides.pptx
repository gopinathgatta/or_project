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Share of students in each stage, 2021 → 2022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rgbClr val="2A78D6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66%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86%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86%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81%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delete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4+</c:v>
                </c:pt>
                <c:pt idx="4">
                  <c:v>Final year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65.8</c:v>
                </c:pt>
                <c:pt idx="1">
                  <c:v>86.4</c:v>
                </c:pt>
                <c:pt idx="2">
                  <c:v>85.6</c:v>
                </c:pt>
                <c:pt idx="3">
                  <c:v>81.4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Repeat</c:v>
                </c:pt>
              </c:strCache>
            </c:strRef>
          </c:tx>
          <c:spPr>
            <a:solidFill>
              <a:srgbClr val="EB6834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14%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44%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4+</c:v>
                </c:pt>
                <c:pt idx="4">
                  <c:v>Final year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7.0</c:v>
                </c:pt>
                <c:pt idx="1">
                  <c:v>8.1</c:v>
                </c:pt>
                <c:pt idx="2">
                  <c:v>10.3</c:v>
                </c:pt>
                <c:pt idx="3">
                  <c:v>13.6</c:v>
                </c:pt>
                <c:pt idx="4">
                  <c:v>43.9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Graduated</c:v>
                </c:pt>
              </c:strCache>
            </c:strRef>
          </c:tx>
          <c:spPr>
            <a:solidFill>
              <a:srgbClr val="1BAF7A"/>
            </a:solidFill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41%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4+</c:v>
                </c:pt>
                <c:pt idx="4">
                  <c:v>Final year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0.2</c:v>
                </c:pt>
                <c:pt idx="1">
                  <c:v>0.0</c:v>
                </c:pt>
                <c:pt idx="2">
                  <c:v>0.1</c:v>
                </c:pt>
                <c:pt idx="3">
                  <c:v>0.0</c:v>
                </c:pt>
                <c:pt idx="4">
                  <c:v>40.9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Withdrawn</c:v>
                </c:pt>
              </c:strCache>
            </c:strRef>
          </c:tx>
          <c:spPr>
            <a:solidFill>
              <a:srgbClr val="EDA100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elete val="1"/>
            </c:dLbl>
            <c:dLbl>
              <c:idx val="3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FFFFFF"/>
                        </a:solidFill>
                      </a:rPr>
                      <a:t>15%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4+</c:v>
                </c:pt>
                <c:pt idx="4">
                  <c:v>Final year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27.0</c:v>
                </c:pt>
                <c:pt idx="1">
                  <c:v>5.5</c:v>
                </c:pt>
                <c:pt idx="2">
                  <c:v>4.0</c:v>
                </c:pt>
                <c:pt idx="3">
                  <c:v>5.0</c:v>
                </c:pt>
                <c:pt idx="4">
                  <c:v>15.2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>
                <a:solidFill>
                  <a:srgbClr val="44444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080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4444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Total sections vs section-capacity assumption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Integer solution (Model 1)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30</c:v>
                </c:pt>
                <c:pt idx="1">
                  <c:v>40</c:v>
                </c:pt>
                <c:pt idx="2">
                  <c:v>50</c:v>
                </c:pt>
                <c:pt idx="3">
                  <c:v>60</c:v>
                </c:pt>
                <c:pt idx="4">
                  <c:v>75</c:v>
                </c:pt>
                <c:pt idx="5">
                  <c:v>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7533</c:v>
                </c:pt>
                <c:pt idx="1">
                  <c:v>6278</c:v>
                </c:pt>
                <c:pt idx="2">
                  <c:v>5612</c:v>
                </c:pt>
                <c:pt idx="3">
                  <c:v>5200</c:v>
                </c:pt>
                <c:pt idx="4">
                  <c:v>4752</c:v>
                </c:pt>
                <c:pt idx="5">
                  <c:v>4337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LP relaxation</c:v>
                </c:pt>
              </c:strCache>
            </c:strRef>
          </c:tx>
          <c:spPr>
            <a:solidFill>
              <a:srgbClr val="DCE6F2"/>
            </a:solidFill>
            <a:ln>
              <a:solidFill>
                <a:srgbClr val="2A78D6"/>
              </a:solidFill>
            </a:ln>
          </c:spPr>
          <c:cat>
            <c:strRef>
              <c:f>Sheet1!$A$2:$A$7</c:f>
              <c:strCache>
                <c:ptCount val="6"/>
                <c:pt idx="0">
                  <c:v>30</c:v>
                </c:pt>
                <c:pt idx="1">
                  <c:v>40</c:v>
                </c:pt>
                <c:pt idx="2">
                  <c:v>50</c:v>
                </c:pt>
                <c:pt idx="3">
                  <c:v>60</c:v>
                </c:pt>
                <c:pt idx="4">
                  <c:v>75</c:v>
                </c:pt>
                <c:pt idx="5">
                  <c:v>100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6701</c:v>
                </c:pt>
                <c:pt idx="1">
                  <c:v>5646</c:v>
                </c:pt>
                <c:pt idx="2">
                  <c:v>5062</c:v>
                </c:pt>
                <c:pt idx="3">
                  <c:v>4697</c:v>
                </c:pt>
                <c:pt idx="4">
                  <c:v>4368</c:v>
                </c:pt>
                <c:pt idx="5">
                  <c:v>4099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>
                <a:solidFill>
                  <a:srgbClr val="44444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080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4444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Unmet demand (students) vs additional sections B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Unmet demand after allocation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25</c:v>
                </c:pt>
                <c:pt idx="4">
                  <c:v>50</c:v>
                </c:pt>
                <c:pt idx="5">
                  <c:v>75</c:v>
                </c:pt>
                <c:pt idx="6">
                  <c:v>100</c:v>
                </c:pt>
                <c:pt idx="7">
                  <c:v>150</c:v>
                </c:pt>
                <c:pt idx="8">
                  <c:v>200</c:v>
                </c:pt>
                <c:pt idx="9">
                  <c:v>300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436.5</c:v>
                </c:pt>
                <c:pt idx="1">
                  <c:v>285.0</c:v>
                </c:pt>
                <c:pt idx="2">
                  <c:v>209.4</c:v>
                </c:pt>
                <c:pt idx="3">
                  <c:v>83.9</c:v>
                </c:pt>
                <c:pt idx="4">
                  <c:v>8.8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>
                <a:solidFill>
                  <a:srgbClr val="44444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08080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4444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Cumulative unserved demand over 5 years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students not seated</c:v>
                </c:pt>
              </c:strCache>
            </c:strRef>
          </c:tx>
          <c:dPt>
            <c:idx val="0"/>
            <c:spPr>
              <a:solidFill>
                <a:srgbClr val="898781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dPt>
            <c:idx val="3"/>
            <c:spPr>
              <a:solidFill>
                <a:srgbClr val="1BAF7A"/>
              </a:solidFill>
            </c:spPr>
          </c:dPt>
          <c:dPt>
            <c:idx val="4"/>
            <c:spPr>
              <a:solidFill>
                <a:srgbClr val="1BAF7A"/>
              </a:solidFill>
            </c:spPr>
          </c:dPt>
          <c:dPt>
            <c:idx val="5"/>
            <c:spPr>
              <a:solidFill>
                <a:srgbClr val="EB6834"/>
              </a:solidFill>
            </c:spPr>
          </c:dPt>
          <c:cat>
            <c:strRef>
              <c:f>Sheet1!$A$2:$A$7</c:f>
              <c:strCache>
                <c:ptCount val="6"/>
                <c:pt idx="0">
                  <c:v>S0 Status quo</c:v>
                </c:pt>
                <c:pt idx="1">
                  <c:v>S1 Limited extra (Model 2)</c:v>
                </c:pt>
                <c:pt idx="2">
                  <c:v>S2 Double budget (Model 2)</c:v>
                </c:pt>
                <c:pt idx="3">
                  <c:v>S3 Full coverage (Model 1)</c:v>
                </c:pt>
                <c:pt idx="4">
                  <c:v>S4 Model 2 + pass +5pp</c:v>
                </c:pt>
                <c:pt idx="5">
                  <c:v>S5 Model 2, intake +5%/yr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3389</c:v>
                </c:pt>
                <c:pt idx="1">
                  <c:v>94</c:v>
                </c:pt>
                <c:pt idx="2">
                  <c:v>0</c:v>
                </c:pt>
                <c:pt idx="3">
                  <c:v>0</c:v>
                </c:pt>
                <c:pt idx="4">
                  <c:v>13</c:v>
                </c:pt>
                <c:pt idx="5">
                  <c:v>29345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>
                <a:solidFill>
                  <a:srgbClr val="44444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080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4444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immediately after the dataset overview slide. Stress that capacity is NOT in the dataset; it is a model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Stocks are students per curriculum stage; flows are calibrated from observed 2021-2022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WHY THIS DATASET?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6675120" cy="50749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6309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Suitability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309360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11111"/>
                </a:solidFill>
                <a:latin typeface="Calibri"/>
              </a:rPr>
              <a:t>Real linked records: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464,739 student-course enrolments, 39,364 students, 4,989 courses, 163 programmes (all match the source)</a:t>
            </a:r>
          </a:p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11111"/>
                </a:solidFill>
                <a:latin typeface="Calibri"/>
              </a:rPr>
              <a:t>Course-level results: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grades on a 0–10 scale give pass, fail and not-evaluated outcomes, so repetition is observable</a:t>
            </a:r>
          </a:p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11111"/>
                </a:solidFill>
                <a:latin typeface="Calibri"/>
              </a:rPr>
              <a:t>Consecutive years 2021 → 2022: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transition and retake rates can be estimated</a:t>
            </a:r>
          </a:p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11111"/>
                </a:solidFill>
                <a:latin typeface="Calibri"/>
              </a:rPr>
              <a:t>Programme and curriculum year: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define stage-based progression stocks</a:t>
            </a:r>
          </a:p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11111"/>
                </a:solidFill>
                <a:latin typeface="Calibri"/>
              </a:rPr>
              <a:t>Anonymised and open: </a:t>
            </a:r>
            <a:r>
              <a:rPr sz="1700" b="0" i="0">
                <a:solidFill>
                  <a:srgbClr val="444444"/>
                </a:solidFill>
                <a:latin typeface="Calibri"/>
              </a:rPr>
              <a:t>hashed IDs and a CC BY 4.0 licence (Zenodo 10.5281/zenodo.17239943), so the work is ethical and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4630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03B3B"/>
                </a:solidFill>
                <a:latin typeface="Calibri"/>
              </a:rPr>
              <a:t>Limitations disclosed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011680"/>
            <a:ext cx="4114800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11111"/>
                </a:solidFill>
                <a:latin typeface="Calibri"/>
              </a:rPr>
              <a:t>No capacity data: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section capacity is a model parameter (default 50)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11111"/>
                </a:solidFill>
                <a:latin typeface="Calibri"/>
              </a:rPr>
              <a:t>Only 3 years: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2018 is not consecutive and is used for trends only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11111"/>
                </a:solidFill>
                <a:latin typeface="Calibri"/>
              </a:rPr>
              <a:t>Hashed courses: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no names and no prerequisite links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11111"/>
                </a:solidFill>
                <a:latin typeface="Calibri"/>
              </a:rPr>
              <a:t>Single university: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results may not transfer to other institutions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11111"/>
                </a:solidFill>
                <a:latin typeface="Calibri"/>
              </a:rPr>
              <a:t>Built for dropout research: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we use it only for flow and capacity, with no dropout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LITERATURE REVIEW &amp; RESEARCH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749039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domain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Representative work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System Dynamics in higher education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Galbraith (1998); Sterman (2000)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Aggregate policy view, no course capacity decision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Student-flow / Markov models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Bartholomew (1982)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Describe flows, do not optimise capacity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Curriculum-flow simulation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Saltzman &amp; Roeder (2012)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Simulate only, no section optimisation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Timetabling &amp; scheduling IP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Schaerf (1999); Burke &amp; Petrovic (2002); Navabi-Shirazi et al. (2022)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Treat demand as fixed, no repeat-demand feedback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OR in education (survey)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Johnes (2015)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Calls for integrated planning models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63440"/>
            <a:ext cx="106070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Research gap: </a:t>
            </a:r>
            <a:r>
              <a:rPr sz="1600" b="0" i="0">
                <a:solidFill>
                  <a:srgbClr val="111111"/>
                </a:solidFill>
                <a:latin typeface="Calibri"/>
              </a:rPr>
              <a:t>progression models show how failure and repetition create demand but do not decide capacity; capacity IPs decide sections but ignore that unmet capacity returns as next year's repeat demand.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This project: </a:t>
            </a:r>
            <a:r>
              <a:rPr sz="1600" b="0" i="0">
                <a:solidFill>
                  <a:srgbClr val="111111"/>
                </a:solidFill>
                <a:latin typeface="Calibri"/>
              </a:rPr>
              <a:t>a data-calibrated SD student-flow model coupled to two Integer Programming models through a backlog feedback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DATA PREPROCESSING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120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73152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Published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Match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Records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464,739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464,739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Students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39,364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39,364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Courses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4,989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4,989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Programmes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163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163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Academic years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26480" y="13258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Cleaning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6126480" y="1828800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10512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ZIPs extracted in memory; hashed IDs read as text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450592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32304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IDs stripped, lower-cased and validated as hexadecimal hashes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3072384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54096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0 duplicate records and 0 rows with missing keys found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694176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675888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9.4% missing grades kept as 'not evaluated' (no credit; they re-enrol like fails)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4315968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9768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25 of 178 columns kept (LMS, Wi-Fi and demographics dropped)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4937760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19472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Student-course trajectories linked 2018 → 2021 → 2022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5559552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541264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Repeat enrolment flagged: 13,446 in 2022 (8.4% of enrolments)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STUDENT PROGRESSION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73152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Year 1 is the critical stage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27% of first-year students leave, against 4–5% in later years.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Repetition rises with stage, from 7% in Year 1 to 14% in Year 4+.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Final year: 41% graduate and 44% stay with credits pending.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27% of students retook at least one course in 2022.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SYSTEM DYNAMICS STUDENT-FLOW MODEL</a:t>
            </a:r>
          </a:p>
        </p:txBody>
      </p:sp>
      <p:sp>
        <p:nvSpPr>
          <p:cNvPr id="3" name="Cloud 2"/>
          <p:cNvSpPr/>
          <p:nvPr/>
        </p:nvSpPr>
        <p:spPr>
          <a:xfrm>
            <a:off x="228600" y="2377440"/>
            <a:ext cx="868680" cy="822960"/>
          </a:xfrm>
          <a:prstGeom prst="cloud">
            <a:avLst/>
          </a:prstGeom>
          <a:solidFill>
            <a:srgbClr val="FFFFFF"/>
          </a:solidFill>
          <a:ln w="15875">
            <a:solidFill>
              <a:srgbClr val="898781"/>
            </a:solidFill>
          </a:ln>
        </p:spPr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Intake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240280"/>
            <a:ext cx="160020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Year 1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stock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1640" y="132588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repeat 7%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92024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17420" y="3337560"/>
            <a:ext cx="0" cy="640079"/>
          </a:xfrm>
          <a:prstGeom prst="line">
            <a:avLst/>
          </a:prstGeom>
          <a:ln w="22225">
            <a:solidFill>
              <a:srgbClr val="ED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0280" y="34290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27%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788920"/>
            <a:ext cx="502920" cy="0"/>
          </a:xfrm>
          <a:prstGeom prst="line">
            <a:avLst/>
          </a:prstGeom>
          <a:ln w="31750">
            <a:solidFill>
              <a:srgbClr val="2A78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20440" y="2240280"/>
            <a:ext cx="160020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Year 2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32588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repeat 7%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02336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20540" y="3337560"/>
            <a:ext cx="0" cy="640079"/>
          </a:xfrm>
          <a:prstGeom prst="line">
            <a:avLst/>
          </a:prstGeom>
          <a:ln w="22225">
            <a:solidFill>
              <a:srgbClr val="ED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43400" y="34290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5%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0640" y="2788920"/>
            <a:ext cx="502920" cy="0"/>
          </a:xfrm>
          <a:prstGeom prst="line">
            <a:avLst/>
          </a:prstGeom>
          <a:ln w="31750">
            <a:solidFill>
              <a:srgbClr val="2A78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23560" y="2240280"/>
            <a:ext cx="160020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Year 3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stock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132588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repeat 9%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084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2648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337560"/>
            <a:ext cx="0" cy="640079"/>
          </a:xfrm>
          <a:prstGeom prst="line">
            <a:avLst/>
          </a:prstGeom>
          <a:ln w="22225">
            <a:solidFill>
              <a:srgbClr val="ED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46520" y="34290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4%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23760" y="2788920"/>
            <a:ext cx="502919" cy="0"/>
          </a:xfrm>
          <a:prstGeom prst="line">
            <a:avLst/>
          </a:prstGeom>
          <a:ln w="31750">
            <a:solidFill>
              <a:srgbClr val="2A78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726679" y="2240280"/>
            <a:ext cx="160020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Year 4+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stock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32588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repeat 12%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3959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22960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26780" y="3337560"/>
            <a:ext cx="0" cy="640079"/>
          </a:xfrm>
          <a:prstGeom prst="line">
            <a:avLst/>
          </a:prstGeom>
          <a:ln w="22225">
            <a:solidFill>
              <a:srgbClr val="ED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49640" y="34290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5%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26880" y="2788920"/>
            <a:ext cx="502920" cy="0"/>
          </a:xfrm>
          <a:prstGeom prst="line">
            <a:avLst/>
          </a:prstGeom>
          <a:ln w="31750">
            <a:solidFill>
              <a:srgbClr val="2A78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829800" y="2240280"/>
            <a:ext cx="160020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Final year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stock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132588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repeat 38%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2708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332720" y="1874519"/>
            <a:ext cx="0" cy="365761"/>
          </a:xfrm>
          <a:prstGeom prst="line">
            <a:avLst/>
          </a:prstGeom>
          <a:ln w="22225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629900" y="3337560"/>
            <a:ext cx="0" cy="640079"/>
          </a:xfrm>
          <a:prstGeom prst="line">
            <a:avLst/>
          </a:prstGeom>
          <a:ln w="22225">
            <a:solidFill>
              <a:srgbClr val="EDA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52760" y="34290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15%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97280" y="2788920"/>
            <a:ext cx="320040" cy="0"/>
          </a:xfrm>
          <a:prstGeom prst="line">
            <a:avLst/>
          </a:prstGeom>
          <a:ln w="31750">
            <a:solidFill>
              <a:srgbClr val="2A78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417320" y="3977639"/>
            <a:ext cx="10012680" cy="502920"/>
          </a:xfrm>
          <a:prstGeom prst="rect">
            <a:avLst/>
          </a:prstGeom>
          <a:solidFill>
            <a:srgbClr val="FDF1D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11111"/>
                </a:solidFill>
                <a:latin typeface="Calibri"/>
              </a:rPr>
              <a:t>Withdrawn (observed aggregate rate, not predicted per student)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430000" y="2788920"/>
            <a:ext cx="411480" cy="0"/>
          </a:xfrm>
          <a:prstGeom prst="line">
            <a:avLst/>
          </a:prstGeom>
          <a:ln w="31750">
            <a:solidFill>
              <a:srgbClr val="1BA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430000" y="2880360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grad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41%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800600"/>
            <a:ext cx="11064240" cy="160020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892040"/>
            <a:ext cx="6400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Stock equation  </a:t>
            </a:r>
            <a:r>
              <a:rPr sz="1500" b="0" i="0">
                <a:solidFill>
                  <a:srgbClr val="111111"/>
                </a:solidFill>
                <a:latin typeface="Cambria"/>
              </a:rPr>
              <a:t>Sⱼ(t+1) = Σᵢ Sᵢ(t)·Pᵢⱼ + Iⱼ(t)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P = observed 2021→2022 transition matrix; I = intake (new entrants + re-entrants)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Stocks: in progress (Years 1–4+), repeating, approaching graduation (final year)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892040"/>
            <a:ext cx="4114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Validation (split-half)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Mean abs. error 4.2% across stocks and exits; large stocks within 2.5%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COURSE DEMAND MODEL &amp; SD–IP FEEDBACK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898781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Dataset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rates 2021 → 2022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46304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System Dynamics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projects demand D(t)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BAF7A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Integer Programming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chooses sections 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24612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Backlog feedback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shortfall adds demand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2011680"/>
            <a:ext cx="548640" cy="0"/>
          </a:xfrm>
          <a:prstGeom prst="line">
            <a:avLst/>
          </a:prstGeom>
          <a:ln w="2857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2011680"/>
            <a:ext cx="548640" cy="0"/>
          </a:xfrm>
          <a:prstGeom prst="line">
            <a:avLst/>
          </a:prstGeom>
          <a:ln w="2857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18320" y="2560320"/>
            <a:ext cx="0" cy="1234440"/>
          </a:xfrm>
          <a:prstGeom prst="line">
            <a:avLst/>
          </a:prstGeom>
          <a:ln w="2857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315200" y="3794760"/>
            <a:ext cx="2103120" cy="0"/>
          </a:xfrm>
          <a:prstGeom prst="line">
            <a:avLst/>
          </a:prstGeom>
          <a:ln w="2857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760720" y="2560320"/>
            <a:ext cx="0" cy="685800"/>
          </a:xfrm>
          <a:prstGeom prst="line">
            <a:avLst/>
          </a:prstGeom>
          <a:ln w="2857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4663440"/>
            <a:ext cx="58521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mbria"/>
              </a:rPr>
              <a:t>D</a:t>
            </a:r>
            <a:r>
              <a:rPr sz="12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(t) = F</a:t>
            </a:r>
            <a:r>
              <a:rPr sz="12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(1+g)ᵗ + ρ</a:t>
            </a:r>
            <a:r>
              <a:rPr sz="12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 B</a:t>
            </a:r>
            <a:r>
              <a:rPr sz="12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(t)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mbria"/>
              </a:rPr>
              <a:t>B</a:t>
            </a:r>
            <a:r>
              <a:rPr sz="12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(t+1) = (1−π</a:t>
            </a:r>
            <a:r>
              <a:rPr sz="12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)·served + unserved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F first-time, ρ retake rate, π pass rate, B backlog of students not yet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572000"/>
            <a:ext cx="2468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161,620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303520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seats demanded in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572000"/>
            <a:ext cx="2468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EB6834"/>
                </a:solidFill>
                <a:latin typeface="Cambria"/>
              </a:rPr>
              <a:t>15,893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303520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of them repeat demand (9.8%)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897880"/>
            <a:ext cx="5029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Repeat-flow validation: R² = 0.91 (course rates) vs 0.74 (single global 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CAPACITY BOTTLENECK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D03B3B"/>
                </a:solidFill>
                <a:latin typeface="Cambria"/>
              </a:rP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bottleneck courses (demand ≥ capacity)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28016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EDA100"/>
                </a:solidFill>
                <a:latin typeface="Cambria"/>
              </a:rPr>
              <a:t>267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01168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at-risk courses (≥ 90% utilised)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28016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436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011680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students with unmet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280160"/>
            <a:ext cx="2834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01168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extra sections needed to clear all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788920"/>
          <a:ext cx="6949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Course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Demand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Repeat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Utilisation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Unmet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C-024e94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347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116%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C-55c753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292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117%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C-7741d3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61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116%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C-0d9a54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321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107%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C-fc6b5f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109%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C-d1710e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267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107%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C-9fad9f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106%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C-21049f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316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89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105%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T="27432" marB="27432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863840" y="2788920"/>
            <a:ext cx="3749039" cy="361188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880360"/>
            <a:ext cx="338328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How a bottleneck is defined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Capacity = 50 seats per section (model parameter)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Modelled sections = ⌈ 2022 enrolment ÷ capacity ⌉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Bottleneck if projected demand ≥ modelled capacity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Repeat share in bottlenecks: 16% vs 10% overall; repetition drives congestion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28 programmes affected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OPTIMIZATION 1: MINIMUM SECTION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120640" cy="210312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7548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Integer Programming</a:t>
            </a:r>
          </a:p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111111"/>
                </a:solidFill>
                <a:latin typeface="Cambria"/>
              </a:rPr>
              <a:t>min  Σ x</a:t>
            </a:r>
            <a:r>
              <a:rPr sz="1500" b="0" i="0">
                <a:solidFill>
                  <a:srgbClr val="111111"/>
                </a:solidFill>
                <a:latin typeface="Cambria"/>
              </a:rPr>
              <a:t>c</a:t>
            </a:r>
          </a:p>
          <a:p>
            <a:pPr algn="l">
              <a:spcAft>
                <a:spcPts val="600"/>
              </a:spcAft>
            </a:pPr>
            <a:r>
              <a:rPr sz="2300" b="0" i="0">
                <a:solidFill>
                  <a:srgbClr val="111111"/>
                </a:solidFill>
                <a:latin typeface="Cambria"/>
              </a:rPr>
              <a:t>s.t.  cap · x</a:t>
            </a:r>
            <a:r>
              <a:rPr sz="15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2300" b="0" i="0">
                <a:solidFill>
                  <a:srgbClr val="111111"/>
                </a:solidFill>
                <a:latin typeface="Cambria"/>
              </a:rPr>
              <a:t>  ≥  D</a:t>
            </a:r>
            <a:r>
              <a:rPr sz="15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2300" b="0" i="0">
                <a:solidFill>
                  <a:srgbClr val="111111"/>
                </a:solidFill>
                <a:latin typeface="Cambria"/>
              </a:rPr>
              <a:t>     x</a:t>
            </a:r>
            <a:r>
              <a:rPr sz="15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2300" b="0" i="0">
                <a:solidFill>
                  <a:srgbClr val="111111"/>
                </a:solidFill>
                <a:latin typeface="Cambria"/>
              </a:rPr>
              <a:t> ∈ ℤ⁺,  x</a:t>
            </a:r>
            <a:r>
              <a:rPr sz="1500" b="0" i="0">
                <a:solidFill>
                  <a:srgbClr val="111111"/>
                </a:solidFill>
                <a:latin typeface="Cambria"/>
              </a:rPr>
              <a:t>c</a:t>
            </a:r>
            <a:r>
              <a:rPr sz="2300" b="0" i="0">
                <a:solidFill>
                  <a:srgbClr val="111111"/>
                </a:solidFill>
                <a:latin typeface="Cambria"/>
              </a:rPr>
              <a:t> ≥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2468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5,612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minimum sections meeting all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611880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+67 / −25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343400"/>
            <a:ext cx="2560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sections added / released vs modelled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LP relaxation: 5,062.3 fractional sections. The 550-section integrality gap shows why fractional sections cannot be used.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Solved with HiGHS (optimal); every value is an integer and all demand is met.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280160"/>
          <a:ext cx="55778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OPTIMIZATION 2: LIMITED ADDITIONAL CAPACITY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120640" cy="233172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Binary Integer Programming</a:t>
            </a:r>
          </a:p>
          <a:p>
            <a:pPr algn="l">
              <a:spcAft>
                <a:spcPts val="800"/>
              </a:spcAft>
            </a:pPr>
            <a:r>
              <a:rPr sz="2300" b="0" i="0">
                <a:solidFill>
                  <a:srgbClr val="111111"/>
                </a:solidFill>
                <a:latin typeface="Cambria"/>
              </a:rPr>
              <a:t>max  Σ w·a·y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   y ∈ {0,1}: k-th extra section to course c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mbria"/>
              </a:rPr>
              <a:t>s.t.  Σ y ≤ B   (extra sections available)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mbria"/>
              </a:rPr>
              <a:t>y</a:t>
            </a:r>
            <a:r>
              <a:rPr sz="1300" b="0" i="0">
                <a:solidFill>
                  <a:srgbClr val="111111"/>
                </a:solidFill>
                <a:latin typeface="Cambria"/>
              </a:rPr>
              <a:t>c,k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 ≤ y</a:t>
            </a:r>
            <a:r>
              <a:rPr sz="1300" b="0" i="0">
                <a:solidFill>
                  <a:srgbClr val="111111"/>
                </a:solidFill>
                <a:latin typeface="Cambria"/>
              </a:rPr>
              <a:t>c,k−1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  (open in order);  Σ</a:t>
            </a:r>
            <a:r>
              <a:rPr sz="1300" b="0" i="0">
                <a:solidFill>
                  <a:srgbClr val="111111"/>
                </a:solidFill>
                <a:latin typeface="Cambria"/>
              </a:rPr>
              <a:t>p</a:t>
            </a:r>
            <a:r>
              <a:rPr sz="1800" b="0" i="0">
                <a:solidFill>
                  <a:srgbClr val="111111"/>
                </a:solidFill>
                <a:latin typeface="Cambria"/>
              </a:rPr>
              <a:t> y ≤ M  (fairness)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2468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AF7A"/>
                </a:solidFill>
                <a:latin typeface="Cambria"/>
              </a:rPr>
              <a:t>98%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unmet demand removed with B =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794760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436 →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526280"/>
            <a:ext cx="2560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students unmet, before →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Courses still short: 67 → 17. With a fairness cap of 5 per programme: 20 unmet.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The highest-shortage courses are served first, even when the budget cannot cover every course.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280160"/>
          <a:ext cx="55778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SCENARIO COMPARISON (2023–2027)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7665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0960" y="1371600"/>
            <a:ext cx="402336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Key trade-offs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Status quo leaves 3,389 students unseated over five years.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50 extra sections a year (Model 2) cut this to 94; 100 a year or Model 1 clear it.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Raising pass rates by 5 pp shrinks the backlog from 46,348 to 37,454, so academic support also frees capacity.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With +5%/yr intake growth a fixed budget fails: 29,345 unseated.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INTERACTIVE UI (STREAMLIT)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18488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Upload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Zenodo ZIP, yearly CSVs or processed parquet; counts checked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26279" y="160020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9" y="1618488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View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28600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outcomes, demand distribution, top courses, programmes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716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75319" y="160020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9" y="1618488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Student flow (SD)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28600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stocks, flows, transition matrix, what-if sliders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58768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Select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Model 1 minimum sections or Model 2 limited budget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61188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26279" y="38404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3858768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View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45262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bottleneck tables, allocations, scenario and sensitivity 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61188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75319" y="38404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3858768"/>
            <a:ext cx="2468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Download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45262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Excel workbook, CSV per table, cleaned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Sidebar parameters (capacity, growth, threshold, horizon) re-run every model live.   Run: streamlit run 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CONCLUSIONS &amp; RECOMMENDATIONS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Target the bottlenecks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68 courses in 28 programmes need extra sections; 67 sections clear all projected shortfall.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28600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Rebalance before expanding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Model 1 adds 67 sections and releases 25, a net +42.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9184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Spend a limited budget optimally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50 extra sections remove 98% of unmet demand; returns fall after about 25.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29768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Reduce repeat demand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Higher pass rates shrink the backlog and future demand: repetition is a capacity lever.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30352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Calibrate capacity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Bottleneck counts range from 133 to 31 as capacity goes from 30 to 100; use real room and staff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TEAM ROLES &amp; RESPONSIBILITIES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Cambria"/>
              </a:rPr>
              <a:t>Member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4846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Problem formulation, literature review, System Dynamics student-flow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440680" cy="224028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Cambria"/>
              </a:rPr>
              <a:t>Member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846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Dataset preprocessing, exploratory analysis, demand and bottleneck identification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5440680" cy="224028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Cambria"/>
              </a:rPr>
              <a:t>Member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4846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IP model formulation, solver implementation, scenario and sensitivity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86200"/>
            <a:ext cx="5440680" cy="224028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Cambria"/>
              </a:rPr>
              <a:t>Member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00600"/>
            <a:ext cx="4846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Streamlit UI, visualisation, end-to-end integration and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